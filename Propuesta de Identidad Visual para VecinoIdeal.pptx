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60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Identidad Visual para VecinoIdeal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85750" y="785813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8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Conecta, Gestiona, Disfruta, Tu Condominio, Tu Paz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385888"/>
            <a:ext cx="40576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VecinoIdeal es un software de administración de condominios que busca diferenciarse en el mercado mexicano a través de una identidad visual única y poderosa.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85750" y="2143125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propuesta presenta una identidad visual que refleja los valores fundamentales de la marca: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2686050"/>
            <a:ext cx="3886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Fomenta la comunidad y la comunicación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457200" y="2900363"/>
            <a:ext cx="3886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Facilita la administración eficiente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57200" y="3114675"/>
            <a:ext cx="3886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Disfruta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Mejora la calidad de vida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57200" y="3328988"/>
            <a:ext cx="3886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Condominio, Tu Paz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Personalización y tranquilidad</a:t>
            </a:r>
            <a:endParaRPr lang="en-US" sz="987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71588"/>
            <a:ext cx="3929063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60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la Competencia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85750" y="842963"/>
            <a:ext cx="40576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8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Dominantes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457200" y="1214438"/>
            <a:ext cx="3886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extenso de </a:t>
            </a:r>
            <a:r>
              <a:rPr lang="en-US" sz="987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azules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987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verdes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como colores primarios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1428750"/>
            <a:ext cx="3886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Tipografías sans-serif limpias y modernas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1643063"/>
            <a:ext cx="3886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Iconografía minimalista y plana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1857375"/>
            <a:ext cx="3886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limpio con espacio en blanco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85750" y="2243138"/>
            <a:ext cx="40576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8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de Diferenciación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457200" y="2614613"/>
            <a:ext cx="3886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Paletas de colores inesperadas (tonos cálidos)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2828925"/>
            <a:ext cx="3886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Estilos de ilustración distintivos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3043238"/>
            <a:ext cx="3886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Tipografías con carácter propio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3257550"/>
            <a:ext cx="3886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en la humanidad y el bienestar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0" y="842963"/>
            <a:ext cx="4286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8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Principales Competidores</a:t>
            </a:r>
            <a:endParaRPr lang="en-US" sz="1269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719" y="1250156"/>
            <a:ext cx="1785938" cy="1071563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994" y="1250156"/>
            <a:ext cx="1785938" cy="1071563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471738"/>
            <a:ext cx="3714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60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de la Marca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85750" y="728663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8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Traducción Visual de los Valores de VecinoIdeal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157288"/>
            <a:ext cx="40576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valores fundamentales de VecinoIdeal se traducen en elementos visuales específicos que refuerzan la identidad de la marca: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85750" y="1971675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Elementos gráficos que sugieren unión, redes y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fluidez. Formas orgánicas o líneas que se entrelazan.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285750" y="2514600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Claridad, estructura y limpieza. Diseño intuitivo,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iconografía precisa y tipografía legible.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285750" y="3057525"/>
            <a:ext cx="40576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Disfrute/Paz: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Colores que evocan calma y bienestar. Formas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suaves, espacios abiertos e imágenes que transmiten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serenidad.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285750" y="3814763"/>
            <a:ext cx="40576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Personalización/Pertenencia: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Elementos que dan un sentido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hogar y comunidad. Ilustraciones que representan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diversidad.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4643438" y="1450181"/>
            <a:ext cx="1943100" cy="1285875"/>
          </a:xfrm>
          <a:prstGeom prst="rect">
            <a:avLst/>
          </a:prstGeom>
          <a:solidFill>
            <a:srgbClr val="60B0A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253" y="1593056"/>
            <a:ext cx="321469" cy="2571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776" y="1921669"/>
            <a:ext cx="67642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4786313" y="2250281"/>
            <a:ext cx="1657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y comunicación fluida</a:t>
            </a:r>
            <a:endParaRPr lang="en-US" sz="834" dirty="0"/>
          </a:p>
        </p:txBody>
      </p:sp>
      <p:sp>
        <p:nvSpPr>
          <p:cNvPr id="14" name="Shape 10"/>
          <p:cNvSpPr/>
          <p:nvPr/>
        </p:nvSpPr>
        <p:spPr>
          <a:xfrm>
            <a:off x="6843713" y="1450181"/>
            <a:ext cx="1943100" cy="1285875"/>
          </a:xfrm>
          <a:prstGeom prst="rect">
            <a:avLst/>
          </a:prstGeom>
          <a:solidFill>
            <a:srgbClr val="FF8C6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675" y="1593056"/>
            <a:ext cx="257175" cy="2571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48448" y="1921669"/>
            <a:ext cx="73360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6986588" y="2250281"/>
            <a:ext cx="1657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Eficiencia, orden y transparencia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4643438" y="2993231"/>
            <a:ext cx="1943100" cy="1285875"/>
          </a:xfrm>
          <a:prstGeom prst="rect">
            <a:avLst/>
          </a:prstGeom>
          <a:solidFill>
            <a:srgbClr val="2C3E5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221831"/>
            <a:ext cx="257175" cy="2571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91091" y="3550444"/>
            <a:ext cx="64779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Disfruta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4925588" y="3879056"/>
            <a:ext cx="1378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 vida y bienestar</a:t>
            </a:r>
            <a:endParaRPr lang="en-US" sz="834" dirty="0"/>
          </a:p>
        </p:txBody>
      </p:sp>
      <p:sp>
        <p:nvSpPr>
          <p:cNvPr id="22" name="Shape 16"/>
          <p:cNvSpPr/>
          <p:nvPr/>
        </p:nvSpPr>
        <p:spPr>
          <a:xfrm>
            <a:off x="6843713" y="2993231"/>
            <a:ext cx="1943100" cy="1285875"/>
          </a:xfrm>
          <a:prstGeom prst="rect">
            <a:avLst/>
          </a:prstGeom>
          <a:solidFill>
            <a:srgbClr val="60B0A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602" y="3136106"/>
            <a:ext cx="289322" cy="2571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5363" y="3464719"/>
            <a:ext cx="539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Paz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6986588" y="3793331"/>
            <a:ext cx="1657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armonía y pertenencia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72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60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85750" y="70008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8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combinación única de confianza y calidez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071563"/>
            <a:ext cx="40576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paleta de colores propuesta para VecinoIdeal busca diferenciarse de la competencia, combinando la confianza con la calidez: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85750" y="1828800"/>
            <a:ext cx="4057650" cy="428625"/>
          </a:xfrm>
          <a:prstGeom prst="rect">
            <a:avLst/>
          </a:prstGeom>
          <a:solidFill>
            <a:srgbClr val="60B0A0"/>
          </a:solidFill>
          <a:ln/>
        </p:spPr>
      </p:sp>
      <p:sp>
        <p:nvSpPr>
          <p:cNvPr id="7" name="Text 4"/>
          <p:cNvSpPr/>
          <p:nvPr/>
        </p:nvSpPr>
        <p:spPr>
          <a:xfrm>
            <a:off x="285750" y="1828800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#60B0A0 - Verde Menta Profundo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285750" y="2314575"/>
            <a:ext cx="40576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Primario: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Transmite frescura, crecimiento y armonía.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285750" y="2857500"/>
            <a:ext cx="4057650" cy="428625"/>
          </a:xfrm>
          <a:prstGeom prst="rect">
            <a:avLst/>
          </a:prstGeom>
          <a:solidFill>
            <a:srgbClr val="FF8C69"/>
          </a:solidFill>
          <a:ln/>
        </p:spPr>
      </p:sp>
      <p:sp>
        <p:nvSpPr>
          <p:cNvPr id="10" name="Text 7"/>
          <p:cNvSpPr/>
          <p:nvPr/>
        </p:nvSpPr>
        <p:spPr>
          <a:xfrm>
            <a:off x="285750" y="2857500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#FF8C69 - Naranja Coral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285750" y="3343275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Secundario: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Evoca calidez, comunidad y energía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positiva.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285750" y="3886200"/>
            <a:ext cx="4057650" cy="428625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3" name="Text 10"/>
          <p:cNvSpPr/>
          <p:nvPr/>
        </p:nvSpPr>
        <p:spPr>
          <a:xfrm>
            <a:off x="285750" y="3886200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#2C3E50 - Azul Medianoche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285750" y="4371975"/>
            <a:ext cx="40576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de Acento: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texto principal y elementos importantes.</a:t>
            </a:r>
            <a:endParaRPr lang="en-US" sz="987" dirty="0"/>
          </a:p>
        </p:txBody>
      </p:sp>
      <p:sp>
        <p:nvSpPr>
          <p:cNvPr id="15" name="Shape 12"/>
          <p:cNvSpPr/>
          <p:nvPr/>
        </p:nvSpPr>
        <p:spPr>
          <a:xfrm>
            <a:off x="285750" y="4914900"/>
            <a:ext cx="4057650" cy="4286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3"/>
          <p:cNvSpPr/>
          <p:nvPr/>
        </p:nvSpPr>
        <p:spPr>
          <a:xfrm>
            <a:off x="285750" y="4914900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#E0E0E0 - Gris Claro Cálido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285750" y="5400675"/>
            <a:ext cx="40576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Neutro: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fondos y texto secundario.</a:t>
            </a:r>
            <a:endParaRPr lang="en-US" sz="987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781" y="1871663"/>
            <a:ext cx="3214688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29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60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Tipografía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85750" y="728663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8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tipográfica para VecinoIdeal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157288"/>
            <a:ext cx="4057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Principal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285750" y="1500188"/>
            <a:ext cx="4057650" cy="1257300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2906" y="1607344"/>
            <a:ext cx="38433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Logo y titulares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92906" y="1878806"/>
            <a:ext cx="38433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Sans-serif geométrica con curvas suaves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392906" y="2150269"/>
            <a:ext cx="38433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Transmite: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Modernidad, eficiencia, accesibilidad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392906" y="2421731"/>
            <a:ext cx="38433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Tamaños: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Títulos (36px), Subtítulos (24px)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285750" y="2914650"/>
            <a:ext cx="4057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Secundaria</a:t>
            </a:r>
            <a:endParaRPr lang="en-US" sz="1193" dirty="0"/>
          </a:p>
        </p:txBody>
      </p:sp>
      <p:sp>
        <p:nvSpPr>
          <p:cNvPr id="12" name="Shape 9"/>
          <p:cNvSpPr/>
          <p:nvPr/>
        </p:nvSpPr>
        <p:spPr>
          <a:xfrm>
            <a:off x="285750" y="3257550"/>
            <a:ext cx="4057650" cy="1257300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2906" y="3364706"/>
            <a:ext cx="38433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Cuerpo de texto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392906" y="3636169"/>
            <a:ext cx="38433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Sans-serif altamente legible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392906" y="3907631"/>
            <a:ext cx="38433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Transmite: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Claridad, profesionalismo, facilidad de lectura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392906" y="4179094"/>
            <a:ext cx="38433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Tamaños: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Cuerpo de texto (20px), Texto secundario (16px)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285750" y="4672013"/>
            <a:ext cx="40576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combinación de estas tipografías refuerza los valores de la marca: eficiencia en la gestión y facilidad de uso para el disfrute.</a:t>
            </a:r>
            <a:endParaRPr lang="en-US" sz="10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594" y="1807369"/>
            <a:ext cx="392906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60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de Logo 1: El Nudo de Conexión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85750" y="842963"/>
            <a:ext cx="40576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concepto representa la unión y armonía entre vecinos y administración a través de un símbolo abstracto y fluido que evoca conexión y comunidad.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785938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5788" y="1657350"/>
            <a:ext cx="37576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Simbolismo: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Las formas entrelazadas representan la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entre los miembros de la comunidad.</a:t>
            </a:r>
            <a:endParaRPr lang="en-US" sz="98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328863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2925" y="2200275"/>
            <a:ext cx="3800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Colores: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verde azulado (#60B0A0) y el naranja coral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(#FF8C69) se combinan para transmitir confianza y calidez.</a:t>
            </a:r>
            <a:endParaRPr lang="en-US" sz="987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871788"/>
            <a:ext cx="214313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5788" y="2743200"/>
            <a:ext cx="37576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nudo infinito sugiere continuidad y fluidez en la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y gestión.</a:t>
            </a:r>
            <a:endParaRPr lang="en-US" sz="987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414713"/>
            <a:ext cx="214313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85788" y="3286125"/>
            <a:ext cx="37576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Equilibrio: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simetría del diseño refleja armonía y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 en la comunidad.</a:t>
            </a:r>
            <a:endParaRPr lang="en-US" sz="987" dirty="0"/>
          </a:p>
        </p:txBody>
      </p:sp>
      <p:sp>
        <p:nvSpPr>
          <p:cNvPr id="13" name="Text 6"/>
          <p:cNvSpPr/>
          <p:nvPr/>
        </p:nvSpPr>
        <p:spPr>
          <a:xfrm>
            <a:off x="285750" y="3943350"/>
            <a:ext cx="40576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concepto se alinea especialmente con los valores de "Conecta" y "Tu Condominio, Tu Paz", enfatizando la importancia de la comunidad y la armonía.</a:t>
            </a:r>
            <a:endParaRPr lang="en-US" sz="1050" dirty="0"/>
          </a:p>
        </p:txBody>
      </p:sp>
      <p:sp>
        <p:nvSpPr>
          <p:cNvPr id="14" name="Shape 7"/>
          <p:cNvSpPr/>
          <p:nvPr/>
        </p:nvSpPr>
        <p:spPr>
          <a:xfrm>
            <a:off x="4879181" y="878681"/>
            <a:ext cx="3671888" cy="3671888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7781" y="1107281"/>
            <a:ext cx="3214688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60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de Logo 2: La Casa Protectora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85750" y="842963"/>
            <a:ext cx="40576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8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y Simbolismo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214438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concepto representa una comunidad conectada y segura, simbolizando los valores fundamentales de VecinoIdeal: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943100"/>
            <a:ext cx="192881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4356" y="1814513"/>
            <a:ext cx="37790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de casas unificadas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representan la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y el sentido de pertenencia.</a:t>
            </a:r>
            <a:endParaRPr lang="en-US" sz="987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486025"/>
            <a:ext cx="214313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5788" y="2357438"/>
            <a:ext cx="37576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 de conexión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simboliza la comunicación y la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al servicio de la comunidad.</a:t>
            </a:r>
            <a:endParaRPr lang="en-US" sz="987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028950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2925" y="2900363"/>
            <a:ext cx="3800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protectora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transmite seguridad y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tranquilidad para los residentes.</a:t>
            </a:r>
            <a:endParaRPr lang="en-US" sz="987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679031"/>
            <a:ext cx="171450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42925" y="3443288"/>
            <a:ext cx="38004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colores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refuerzan la identidad: verde azulado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estructura (gestión) y naranja coral para la conexión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(comunidad).</a:t>
            </a:r>
            <a:endParaRPr lang="en-US" sz="987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75" y="850106"/>
            <a:ext cx="2857500" cy="28575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600784" y="3993356"/>
            <a:ext cx="222868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 hogar conectado es un hogar feliz"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60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de Logo 3: El Check de la Paz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85750" y="842963"/>
            <a:ext cx="40576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concepto combina un checkmark (símbolo de verificación) con una forma orgánica de hoja, simbolizando que la gestión eficiente conduce a la tranquilidad y el bienestar.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893094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2925" y="1657350"/>
            <a:ext cx="38004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Simbolismo: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forma de hoja representa la paz y la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naturaleza, mientras que el checkmark simboliza la gestión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eficiente.</a:t>
            </a:r>
            <a:endParaRPr lang="en-US" sz="98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650331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2925" y="2414588"/>
            <a:ext cx="38004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verde azulado (#60B0A0) transmite tranquilidad y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confianza, mientras que el naranja coral (#FF8C69) en la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tipografía aporta calidez y energía.</a:t>
            </a:r>
            <a:endParaRPr lang="en-US" sz="987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407569"/>
            <a:ext cx="171450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2925" y="3171825"/>
            <a:ext cx="38004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"La gestión eficiente lleva a la tranquilidad". Este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comunica directamente el valor de "Tu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Condominio, Tu Paz".</a:t>
            </a:r>
            <a:endParaRPr lang="en-US" sz="987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4164806"/>
            <a:ext cx="171450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42925" y="3929063"/>
            <a:ext cx="38004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Versatilidad: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diseño simple y reconocible funciona bien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diferentes tamaños y aplicaciones, desde iconos de app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señalización.</a:t>
            </a:r>
            <a:endParaRPr lang="en-US" sz="987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75" y="957263"/>
            <a:ext cx="2857500" cy="28575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504762" y="4100513"/>
            <a:ext cx="242072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8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3: El Check de la Paz</a:t>
            </a:r>
            <a:endParaRPr lang="en-US" sz="1269" dirty="0"/>
          </a:p>
        </p:txBody>
      </p:sp>
      <p:sp>
        <p:nvSpPr>
          <p:cNvPr id="15" name="Text 7"/>
          <p:cNvSpPr/>
          <p:nvPr/>
        </p:nvSpPr>
        <p:spPr>
          <a:xfrm>
            <a:off x="5504762" y="4357688"/>
            <a:ext cx="242072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+ Tranquilidad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700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60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85750" y="728663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8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de la Identidad Visual de VecinoIdeal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157288"/>
            <a:ext cx="4057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finalizar el desarrollo de la identidad visual de VecinoIdeal, recomendamos seguir estos pasos: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85750" y="1757363"/>
            <a:ext cx="257175" cy="257175"/>
          </a:xfrm>
          <a:prstGeom prst="ellipse">
            <a:avLst/>
          </a:prstGeom>
          <a:solidFill>
            <a:srgbClr val="60B0A0"/>
          </a:solidFill>
          <a:ln/>
        </p:spPr>
      </p:sp>
      <p:sp>
        <p:nvSpPr>
          <p:cNvPr id="7" name="Text 4"/>
          <p:cNvSpPr/>
          <p:nvPr/>
        </p:nvSpPr>
        <p:spPr>
          <a:xfrm>
            <a:off x="285750" y="175736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650081" y="1757363"/>
            <a:ext cx="3693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del Concepto de Logo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650081" y="1971675"/>
            <a:ext cx="369331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y seleccionar uno de los tres conceptos presentados, considerando cuál representa mejor los valores de la marca.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5750" y="2757488"/>
            <a:ext cx="257175" cy="257175"/>
          </a:xfrm>
          <a:prstGeom prst="ellipse">
            <a:avLst/>
          </a:prstGeom>
          <a:solidFill>
            <a:srgbClr val="60B0A0"/>
          </a:solidFill>
          <a:ln/>
        </p:spPr>
      </p:sp>
      <p:sp>
        <p:nvSpPr>
          <p:cNvPr id="11" name="Text 8"/>
          <p:cNvSpPr/>
          <p:nvPr/>
        </p:nvSpPr>
        <p:spPr>
          <a:xfrm>
            <a:off x="285750" y="275748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650081" y="2757488"/>
            <a:ext cx="3693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Directrices de Marca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650081" y="2971800"/>
            <a:ext cx="369331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manual de marca completo que incluya variaciones del logo, usos correctos e incorrectos, y aplicaciones en diferentes formatos.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85750" y="3757613"/>
            <a:ext cx="257175" cy="257175"/>
          </a:xfrm>
          <a:prstGeom prst="ellipse">
            <a:avLst/>
          </a:prstGeom>
          <a:solidFill>
            <a:srgbClr val="60B0A0"/>
          </a:solidFill>
          <a:ln/>
        </p:spPr>
      </p:sp>
      <p:sp>
        <p:nvSpPr>
          <p:cNvPr id="15" name="Text 12"/>
          <p:cNvSpPr/>
          <p:nvPr/>
        </p:nvSpPr>
        <p:spPr>
          <a:xfrm>
            <a:off x="285750" y="375761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650081" y="3757613"/>
            <a:ext cx="3693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Interfaz de Usuario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650081" y="3971925"/>
            <a:ext cx="369331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la identidad visual a la interfaz de la aplicación y el sitio web, asegurando coherencia en todos los puntos de contacto.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85750" y="4757738"/>
            <a:ext cx="257175" cy="257175"/>
          </a:xfrm>
          <a:prstGeom prst="ellipse">
            <a:avLst/>
          </a:prstGeom>
          <a:solidFill>
            <a:srgbClr val="60B0A0"/>
          </a:solidFill>
          <a:ln/>
        </p:spPr>
      </p:sp>
      <p:sp>
        <p:nvSpPr>
          <p:cNvPr id="19" name="Text 16"/>
          <p:cNvSpPr/>
          <p:nvPr/>
        </p:nvSpPr>
        <p:spPr>
          <a:xfrm>
            <a:off x="285750" y="475773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650081" y="4757738"/>
            <a:ext cx="3693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Materiales de Marketing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650081" y="4972050"/>
            <a:ext cx="369331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plantillas para materiales promocionales, redes sociales y comunicaciones que reflejen la nueva identidad visual.</a:t>
            </a:r>
            <a:endParaRPr lang="en-US" sz="10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8" y="2028825"/>
            <a:ext cx="3571875" cy="28575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85750" y="5986463"/>
            <a:ext cx="857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identidad visual coherente y distintiva será clave para el posicionamiento exitoso de VecinoIdeal en el mercado de software de administración de condominios.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2026-04-07T06:05:55Z</dcterms:created>
  <dcterms:modified xsi:type="dcterms:W3CDTF">2026-04-07T06:05:55Z</dcterms:modified>
</cp:coreProperties>
</file>